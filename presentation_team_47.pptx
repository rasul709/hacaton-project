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WbYcNJw3OOEz6FvEe4yeXnE+H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sz="3600" b="1">
                <a:solidFill>
                  <a:srgbClr val="101828"/>
                </a:solidFill>
                <a:latin typeface="Arial"/>
              </a:rPr>
              <a:t>Digital HR: Корпоративная платформа</a:t>
            </a:r>
            <a:endParaRPr/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Arial"/>
              </a:rPr>
              <a:t>Автоматизация кадровых процессов и учет рабочего времени для Jana Post</a:t>
            </a: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400" b="1">
                <a:solidFill>
                  <a:srgbClr val="2563EB"/>
                </a:solidFill>
                <a:latin typeface="Arial"/>
              </a:rPr>
              <a:t>Команда № 47</a:t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356099" cy="7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3736575" y="4670225"/>
            <a:ext cx="23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Караганда 202</a:t>
            </a:r>
            <a:r>
              <a:rPr lang="ru"/>
              <a:t>6</a:t>
            </a: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2800" b="1">
                <a:solidFill>
                  <a:srgbClr val="101828"/>
                </a:solidFill>
                <a:latin typeface="Arial"/>
              </a:rPr>
              <a:t>Краткое описание проделанной работы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800"/>
              <a:buNone/>
            </a:pPr>
            <a:r>
              <a:rPr sz="1400" b="1">
                <a:solidFill>
                  <a:srgbClr val="2563EB"/>
                </a:solidFill>
                <a:latin typeface="Arial"/>
              </a:rPr>
              <a:t>📌 О проекте: </a:t>
            </a:r>
            <a:r>
              <a:rPr sz="1300">
                <a:solidFill>
                  <a:srgbClr val="1F2937"/>
                </a:solidFill>
                <a:latin typeface="Arial"/>
              </a:rPr>
              <a:t>Разработана enterprise-платформа Digital HR для управления кадровым циклом Jana Post в соответствии с Трудовым кодексом РК (UTC+5, квота отпусков 24 дня, формы Т-2, Т-6, Т-13).</a:t>
            </a:r>
            <a:endParaRPr/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101828"/>
                </a:solidFill>
                <a:latin typeface="Arial"/>
              </a:rPr>
              <a:t>🛠 Какие ресурсы были использованы?</a:t>
            </a:r>
          </a:p>
          <a:p>
            <a:pPr lvl="1">
              <a:spcBef>
                <a:spcPts val="200"/>
              </a:spcBef>
            </a:pPr>
            <a:r>
              <a:rPr sz="1200" b="1">
                <a:solidFill>
                  <a:srgbClr val="1F2937"/>
                </a:solidFill>
                <a:latin typeface="Arial"/>
              </a:rPr>
              <a:t>• Frontend &amp; UI: </a:t>
            </a:r>
            <a:r>
              <a:rPr sz="1200">
                <a:solidFill>
                  <a:srgbClr val="4B5563"/>
                </a:solidFill>
                <a:latin typeface="Arial"/>
              </a:rPr>
              <a:t>React 19, TypeScript, Vite, Tailwind CSS v4, Lucide React, TanStack Query v5, Recharts (аналитика смен и отпусков).</a:t>
            </a:r>
          </a:p>
          <a:p>
            <a:pPr lvl="1">
              <a:spcBef>
                <a:spcPts val="200"/>
              </a:spcBef>
            </a:pPr>
            <a:r>
              <a:rPr sz="1200" b="1">
                <a:solidFill>
                  <a:srgbClr val="1F2937"/>
                </a:solidFill>
                <a:latin typeface="Arial"/>
              </a:rPr>
              <a:t>• Backend &amp; Данные: </a:t>
            </a:r>
            <a:r>
              <a:rPr sz="1200">
                <a:solidFill>
                  <a:srgbClr val="4B5563"/>
                </a:solidFill>
                <a:latin typeface="Arial"/>
              </a:rPr>
              <a:t>Node.js, Express, REST API v1, Prisma ORM, PostgreSQL / SQLite (автономный режим), JWT-авторизация с ролевым доступом (RBAC).</a:t>
            </a:r>
          </a:p>
          <a:p>
            <a:pPr lvl="1">
              <a:spcBef>
                <a:spcPts val="200"/>
              </a:spcBef>
            </a:pPr>
            <a:r>
              <a:rPr sz="1200" b="1">
                <a:solidFill>
                  <a:srgbClr val="1F2937"/>
                </a:solidFill>
                <a:latin typeface="Arial"/>
              </a:rPr>
              <a:t>• AI &amp; База знаний: </a:t>
            </a:r>
            <a:r>
              <a:rPr sz="1200">
                <a:solidFill>
                  <a:srgbClr val="4B5563"/>
                </a:solidFill>
                <a:latin typeface="Arial"/>
              </a:rPr>
              <a:t>Кадровый RAG-ассистент «Jana» со встроенной верифицированной базой регламентов РК и безопасным отказом.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500" b="1">
                <a:solidFill>
                  <a:srgbClr val="101828"/>
                </a:solidFill>
                <a:latin typeface="Arial"/>
              </a:rPr>
              <a:t>🎯 Какие результаты получили</a:t>
            </a:r>
          </a:p>
          <a:p>
            <a:pPr lvl="1">
              <a:spcBef>
                <a:spcPts val="200"/>
              </a:spcBef>
            </a:pPr>
            <a:r>
              <a:rPr sz="1200" b="1">
                <a:solidFill>
                  <a:srgbClr val="1F2937"/>
                </a:solidFill>
                <a:latin typeface="Arial"/>
              </a:rPr>
              <a:t>• 3 сквозных бизнес-сценария: </a:t>
            </a:r>
            <a:r>
              <a:rPr sz="1200">
                <a:solidFill>
                  <a:srgbClr val="4B5563"/>
                </a:solidFill>
                <a:latin typeface="Arial"/>
              </a:rPr>
              <a:t>Личный кабинет сотрудника (ESS) с трекером прихода/ухода, очередь согласования руководителя команды (SLA 2 ч) и модуль кадрового администрирования.</a:t>
            </a:r>
          </a:p>
          <a:p>
            <a:pPr lvl="1">
              <a:spcBef>
                <a:spcPts val="200"/>
              </a:spcBef>
            </a:pPr>
            <a:r>
              <a:rPr sz="1200" b="1">
                <a:solidFill>
                  <a:srgbClr val="1F2937"/>
                </a:solidFill>
                <a:latin typeface="Arial"/>
              </a:rPr>
              <a:t>• Безопасность и изоляция: </a:t>
            </a:r>
            <a:r>
              <a:rPr sz="1200">
                <a:solidFill>
                  <a:srgbClr val="4B5563"/>
                </a:solidFill>
                <a:latin typeface="Arial"/>
              </a:rPr>
              <a:t>Строгая серверная проверка ролей на каждом эндпоинте; исключена подмена ID сотрудников и доступ к чужим заявлениям.</a:t>
            </a:r>
          </a:p>
          <a:p>
            <a:pPr lvl="1">
              <a:spcBef>
                <a:spcPts val="200"/>
              </a:spcBef>
            </a:pPr>
            <a:r>
              <a:rPr sz="1200" b="1">
                <a:solidFill>
                  <a:srgbClr val="1F2937"/>
                </a:solidFill>
                <a:latin typeface="Arial"/>
              </a:rPr>
              <a:t>• Интерактивный прототип: </a:t>
            </a:r>
            <a:r>
              <a:rPr sz="1200">
                <a:solidFill>
                  <a:srgbClr val="4B5563"/>
                </a:solidFill>
                <a:latin typeface="Arial"/>
              </a:rPr>
              <a:t>100% готовность к демонстрации на реальных seed-данных в автономном режиме без внешней сети.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2800" b="1">
                <a:solidFill>
                  <a:srgbClr val="101828"/>
                </a:solidFill>
                <a:latin typeface="Arial"/>
              </a:rPr>
              <a:t>Демонстрация прототипа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11700" y="1152475"/>
            <a:ext cx="4200000" cy="3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sz="1500" b="1">
                <a:solidFill>
                  <a:srgbClr val="2563EB"/>
                </a:solidFill>
                <a:latin typeface="Arial"/>
              </a:rPr>
              <a:t>Ключевые сценарии демонстрации:</a:t>
            </a:r>
            <a:endParaRPr/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01828"/>
                </a:solidFill>
                <a:latin typeface="Arial"/>
              </a:rPr>
              <a:t>1. Кабинет сотрудника (ESS):</a:t>
            </a:r>
          </a:p>
          <a:p>
            <a:r>
              <a:rPr sz="1100">
                <a:solidFill>
                  <a:srgbClr val="4B5563"/>
                </a:solidFill>
                <a:latin typeface="Arial"/>
              </a:rPr>
              <a:t>• Расчет баланса отпусков (ст. 88 ТК РК — 24 дня)
• Подача заявления на отпуск и запрос аванса
• Фиксация рабочего времени Clock In / Out (UTC+5)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01828"/>
                </a:solidFill>
                <a:latin typeface="Arial"/>
              </a:rPr>
              <a:t>2. Кабинет руководителя отдела:</a:t>
            </a:r>
          </a:p>
          <a:p>
            <a:r>
              <a:rPr sz="1100">
                <a:solidFill>
                  <a:srgbClr val="4B5563"/>
                </a:solidFill>
                <a:latin typeface="Arial"/>
              </a:rPr>
              <a:t>• Очередь заявлений сотрудников IT-подразделения
• Резолюция в 1 клик: Одобрить / Отклонить с аудитом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01828"/>
                </a:solidFill>
                <a:latin typeface="Arial"/>
              </a:rPr>
              <a:t>3. AI-ассистент «Jana»:</a:t>
            </a:r>
          </a:p>
          <a:p>
            <a:r>
              <a:rPr sz="1100">
                <a:solidFill>
                  <a:srgbClr val="4B5563"/>
                </a:solidFill>
                <a:latin typeface="Arial"/>
              </a:rPr>
              <a:t>• RAG-ответы со ссылками на первоисточники ТК РК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64748B"/>
                </a:solidFill>
                <a:latin typeface="Arial"/>
              </a:rPr>
              <a:t>👤 Тестовые роли: employee@janapost.kz / manager@janapost.kz</a:t>
            </a:r>
          </a:p>
        </p:txBody>
      </p:sp>
      <p:pic>
        <p:nvPicPr>
          <p:cNvPr id="70" name="Picture 69" descr="crop_wo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00" y="1150000"/>
            <a:ext cx="4150000" cy="1538362"/>
          </a:xfrm>
          <a:prstGeom prst="rect">
            <a:avLst/>
          </a:prstGeom>
        </p:spPr>
      </p:pic>
      <p:pic>
        <p:nvPicPr>
          <p:cNvPr id="71" name="Picture 70" descr="crop_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00" y="2900000"/>
            <a:ext cx="4150000" cy="15025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